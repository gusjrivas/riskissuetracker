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u2f2wqtrafBuJWSAhRII9/xdx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customschemas.google.com/relationships/presentationmetadata" Target="metadata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457200" y="118872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&amp; Issue Tracker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457200" y="233172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Gestión de riesgos y problemas por proyecto/cliente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199" y="2880360"/>
            <a:ext cx="5995481" cy="919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Introducción a la Ingeniería de Software asistida por 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Profesor: Enzo Pacilio Irrazabal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Alumnos: Gustavo Rivas – Rodolfo Di Chiazza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3886200"/>
            <a:ext cx="1289304" cy="310896"/>
          </a:xfrm>
          <a:prstGeom prst="roundRect">
            <a:avLst>
              <a:gd fmla="val 17647" name="adj"/>
            </a:avLst>
          </a:prstGeom>
          <a:solidFill>
            <a:srgbClr val="3B82F6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3886200"/>
            <a:ext cx="128930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Riesgos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1856232" y="3886200"/>
            <a:ext cx="1527048" cy="310896"/>
          </a:xfrm>
          <a:prstGeom prst="roundRect">
            <a:avLst>
              <a:gd fmla="val 17647" name="adj"/>
            </a:avLst>
          </a:prstGeom>
          <a:solidFill>
            <a:srgbClr val="EF4444">
              <a:alpha val="80000"/>
            </a:srgbClr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856232" y="3886200"/>
            <a:ext cx="1527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493008" y="3886200"/>
            <a:ext cx="1527048" cy="310896"/>
          </a:xfrm>
          <a:prstGeom prst="roundRect">
            <a:avLst>
              <a:gd fmla="val 17647" name="adj"/>
            </a:avLst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493008" y="3886200"/>
            <a:ext cx="15270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Severidad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129784" y="3886200"/>
            <a:ext cx="1883664" cy="310896"/>
          </a:xfrm>
          <a:prstGeom prst="roundRect">
            <a:avLst>
              <a:gd fmla="val 17647" name="adj"/>
            </a:avLst>
          </a:prstGeom>
          <a:solidFill>
            <a:srgbClr val="0D9488">
              <a:alpha val="8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129784" y="3886200"/>
            <a:ext cx="1883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 record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675120" y="777240"/>
            <a:ext cx="2011680" cy="2011680"/>
          </a:xfrm>
          <a:prstGeom prst="ellipse">
            <a:avLst/>
          </a:prstGeom>
          <a:solidFill>
            <a:srgbClr val="3B82F6">
              <a:alpha val="12156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472" y="1207008"/>
            <a:ext cx="950976" cy="95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Funcionalidades principales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74320" y="96012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74320" y="96012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38912" y="1216152"/>
            <a:ext cx="530352" cy="530352"/>
          </a:xfrm>
          <a:prstGeom prst="ellipse">
            <a:avLst/>
          </a:prstGeom>
          <a:solidFill>
            <a:srgbClr val="3B82F6">
              <a:alpha val="18039"/>
            </a:srgbClr>
          </a:solidFill>
          <a:ln cap="flat" cmpd="sng" w="12700">
            <a:solidFill>
              <a:srgbClr val="3B82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1078992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Registro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1078992" y="13990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Alta de riesgos y problemas por proyecto/cliente con descripción, tipo y owner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709160" y="960120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709160" y="960120"/>
            <a:ext cx="64008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873752" y="1216152"/>
            <a:ext cx="530352" cy="530352"/>
          </a:xfrm>
          <a:prstGeom prst="ellipse">
            <a:avLst/>
          </a:prstGeom>
          <a:solidFill>
            <a:srgbClr val="F59E0B">
              <a:alpha val="18039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1768" y="13441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513832" y="10972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513832" y="139903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Probabilidad, impacto, urgencia y alcance para categorizar cada ítem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274320" y="2221992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274320" y="2221992"/>
            <a:ext cx="64008" cy="10515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38912" y="2478024"/>
            <a:ext cx="530352" cy="530352"/>
          </a:xfrm>
          <a:prstGeom prst="ellipse">
            <a:avLst/>
          </a:prstGeom>
          <a:solidFill>
            <a:srgbClr val="EF4444">
              <a:alpha val="18039"/>
            </a:srgbClr>
          </a:solidFill>
          <a:ln cap="flat" cmpd="sng" w="12700">
            <a:solidFill>
              <a:srgbClr val="EF444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" name="Google Shape;4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6928" y="2606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1078992" y="23591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Severidad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078992" y="266090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Cálculo automático: bajo / medio / alto / crítico según los parámetros ingresados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09160" y="2221992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09160" y="2221992"/>
            <a:ext cx="64008" cy="10515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873752" y="2478024"/>
            <a:ext cx="530352" cy="530352"/>
          </a:xfrm>
          <a:prstGeom prst="ellipse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1768" y="26060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"/>
          <p:cNvSpPr/>
          <p:nvPr/>
        </p:nvSpPr>
        <p:spPr>
          <a:xfrm>
            <a:off x="5513832" y="235915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Owner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513832" y="2660904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Responsable asignado por cada riesgo o problema dentro del proyecto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274320" y="3483864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74320" y="3483864"/>
            <a:ext cx="64008" cy="105156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38912" y="3739896"/>
            <a:ext cx="530352" cy="530352"/>
          </a:xfrm>
          <a:prstGeom prst="ellipse">
            <a:avLst/>
          </a:prstGeom>
          <a:solidFill>
            <a:srgbClr val="8B5CF6">
              <a:alpha val="18039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6928" y="3867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1078992" y="36210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Mitigación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078992" y="3922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con accionables, fechas y estados de seguimiento vinculados al riesgo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09160" y="3483864"/>
            <a:ext cx="416052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12700">
              <a:srgbClr val="000000">
                <a:alpha val="7058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09160" y="3483864"/>
            <a:ext cx="64008" cy="1051560"/>
          </a:xfrm>
          <a:prstGeom prst="rect">
            <a:avLst/>
          </a:prstGeom>
          <a:solidFill>
            <a:srgbClr val="334155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873752" y="3739896"/>
            <a:ext cx="530352" cy="530352"/>
          </a:xfrm>
          <a:prstGeom prst="ellipse">
            <a:avLst/>
          </a:prstGeom>
          <a:solidFill>
            <a:srgbClr val="334155">
              <a:alpha val="18039"/>
            </a:srgbClr>
          </a:solidFill>
          <a:ln cap="flat" cmpd="sng" w="12700">
            <a:solidFill>
              <a:srgbClr val="33415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01768" y="38679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5513832" y="362102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Track record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513832" y="3922776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Historial completo de transiciones, decisiones y derivaciones de cada ítem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Ciclo de vida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365760" y="960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RIESGO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65760" y="126187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365760" y="135331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Abierto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166420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Registro del riesgo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3"/>
          <p:cNvCxnSpPr/>
          <p:nvPr/>
        </p:nvCxnSpPr>
        <p:spPr>
          <a:xfrm>
            <a:off x="2075688" y="161848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3"/>
          <p:cNvSpPr/>
          <p:nvPr/>
        </p:nvSpPr>
        <p:spPr>
          <a:xfrm>
            <a:off x="2423160" y="149961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2596896" y="126187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596896" y="135331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596896" y="166420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Plan de mitigación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" name="Google Shape;87;p3"/>
          <p:cNvCxnSpPr/>
          <p:nvPr/>
        </p:nvCxnSpPr>
        <p:spPr>
          <a:xfrm>
            <a:off x="4306824" y="161848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3"/>
          <p:cNvSpPr/>
          <p:nvPr/>
        </p:nvSpPr>
        <p:spPr>
          <a:xfrm>
            <a:off x="4654296" y="149961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28032" y="126187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828032" y="135331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828032" y="166420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Riesgo mitigado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3447288" y="1993392"/>
            <a:ext cx="0" cy="347472"/>
          </a:xfrm>
          <a:prstGeom prst="straightConnector1">
            <a:avLst/>
          </a:prstGeom>
          <a:noFill/>
          <a:ln cap="flat" cmpd="sng" w="19050">
            <a:solidFill>
              <a:srgbClr val="EF444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3" name="Google Shape;93;p3"/>
          <p:cNvSpPr/>
          <p:nvPr/>
        </p:nvSpPr>
        <p:spPr>
          <a:xfrm>
            <a:off x="2608473" y="2358963"/>
            <a:ext cx="1926951" cy="201163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  No mitigado → deriva en problema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3"/>
          <p:cNvCxnSpPr/>
          <p:nvPr/>
        </p:nvCxnSpPr>
        <p:spPr>
          <a:xfrm>
            <a:off x="365760" y="2788920"/>
            <a:ext cx="8412480" cy="0"/>
          </a:xfrm>
          <a:prstGeom prst="straightConnector1">
            <a:avLst/>
          </a:prstGeom>
          <a:noFill/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3"/>
          <p:cNvSpPr/>
          <p:nvPr/>
        </p:nvSpPr>
        <p:spPr>
          <a:xfrm>
            <a:off x="365760" y="285292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PROBLEMA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331720" y="28529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puede originarse desde un riesgo o registrarse de forma independiente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760" y="318211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327355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Abierto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65760" y="358444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Problema registrado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3"/>
          <p:cNvCxnSpPr/>
          <p:nvPr/>
        </p:nvCxnSpPr>
        <p:spPr>
          <a:xfrm>
            <a:off x="2075688" y="35387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3"/>
          <p:cNvSpPr/>
          <p:nvPr/>
        </p:nvSpPr>
        <p:spPr>
          <a:xfrm>
            <a:off x="2423160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596896" y="318211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2596896" y="327355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En curso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596896" y="358444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rPr>
              <a:t>Plan de acción activo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3"/>
          <p:cNvCxnSpPr/>
          <p:nvPr/>
        </p:nvCxnSpPr>
        <p:spPr>
          <a:xfrm>
            <a:off x="4306824" y="353872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3"/>
          <p:cNvSpPr/>
          <p:nvPr/>
        </p:nvSpPr>
        <p:spPr>
          <a:xfrm>
            <a:off x="4654296" y="3419856"/>
            <a:ext cx="182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828032" y="3182112"/>
            <a:ext cx="1691640" cy="713232"/>
          </a:xfrm>
          <a:prstGeom prst="roundRect">
            <a:avLst>
              <a:gd fmla="val 10256" name="adj"/>
            </a:avLst>
          </a:prstGeom>
          <a:solidFill>
            <a:srgbClr val="CCFBF1"/>
          </a:solidFill>
          <a:ln cap="flat" cmpd="sng" w="12700">
            <a:solidFill>
              <a:srgbClr val="CCFB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4828032" y="327355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Cerrado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4828032" y="3584448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5E59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115E59"/>
                </a:solidFill>
                <a:latin typeface="Calibri"/>
                <a:ea typeface="Calibri"/>
                <a:cs typeface="Calibri"/>
                <a:sym typeface="Calibri"/>
              </a:rPr>
              <a:t>Problema resuelto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583680" y="1188720"/>
            <a:ext cx="2331720" cy="28346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5472" y="138988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/>
          <p:nvPr/>
        </p:nvSpPr>
        <p:spPr>
          <a:xfrm>
            <a:off x="6583680" y="1847088"/>
            <a:ext cx="2331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 record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675120" y="2249424"/>
            <a:ext cx="2148840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Cada cambio registra: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fecha y hora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responsable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contexto del cambio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vínculo riesgo↔problema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365760" y="32004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técnico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8046720" y="320040"/>
            <a:ext cx="7315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0040" y="1143000"/>
            <a:ext cx="265176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20040" y="1143000"/>
            <a:ext cx="2651760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307592" y="1371600"/>
            <a:ext cx="676656" cy="676656"/>
          </a:xfrm>
          <a:prstGeom prst="ellipse">
            <a:avLst/>
          </a:prstGeom>
          <a:solidFill>
            <a:srgbClr val="3B82F6">
              <a:alpha val="18039"/>
            </a:srgbClr>
          </a:solidFill>
          <a:ln cap="flat" cmpd="sng" w="12700">
            <a:solidFill>
              <a:srgbClr val="3B82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1328" y="1545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411480" y="2148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11480" y="242316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594360" y="29443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502920" y="3063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SPA con componentes por dominio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02920" y="3383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Riesgos · Problemas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0292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Proyectos · Planes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00400" y="1143000"/>
            <a:ext cx="265176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200400" y="1143000"/>
            <a:ext cx="265176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187952" y="1371600"/>
            <a:ext cx="676656" cy="676656"/>
          </a:xfrm>
          <a:prstGeom prst="ellipse">
            <a:avLst/>
          </a:prstGeom>
          <a:solidFill>
            <a:srgbClr val="0D9488">
              <a:alpha val="18039"/>
            </a:srgbClr>
          </a:solidFill>
          <a:ln cap="flat" cmpd="sng" w="12700">
            <a:solidFill>
              <a:srgbClr val="0D9488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1688" y="1545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4"/>
          <p:cNvSpPr/>
          <p:nvPr/>
        </p:nvSpPr>
        <p:spPr>
          <a:xfrm>
            <a:off x="3291840" y="2148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Backend (Python)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291840" y="242316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3474720" y="29443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4"/>
          <p:cNvSpPr/>
          <p:nvPr/>
        </p:nvSpPr>
        <p:spPr>
          <a:xfrm>
            <a:off x="3383280" y="3063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383280" y="3383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Lógica de severidad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38328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Gestión de estados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383280" y="4023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Derivación riesgo→problema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080760" y="1143000"/>
            <a:ext cx="2651760" cy="347472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6080760" y="1143000"/>
            <a:ext cx="2651760" cy="7315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7068312" y="1371600"/>
            <a:ext cx="676656" cy="676656"/>
          </a:xfrm>
          <a:prstGeom prst="ellipse">
            <a:avLst/>
          </a:prstGeom>
          <a:solidFill>
            <a:srgbClr val="8B5CF6">
              <a:alpha val="18039"/>
            </a:srgbClr>
          </a:solidFill>
          <a:ln cap="flat" cmpd="sng" w="12700">
            <a:solidFill>
              <a:srgbClr val="8B5CF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5" name="Google Shape;14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42048" y="1545336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/>
          <p:nvPr/>
        </p:nvSpPr>
        <p:spPr>
          <a:xfrm>
            <a:off x="6172200" y="2148840"/>
            <a:ext cx="2468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Persistencia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6172200" y="2423160"/>
            <a:ext cx="24688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4"/>
          <p:cNvCxnSpPr/>
          <p:nvPr/>
        </p:nvCxnSpPr>
        <p:spPr>
          <a:xfrm>
            <a:off x="6355080" y="2944368"/>
            <a:ext cx="2103120" cy="0"/>
          </a:xfrm>
          <a:prstGeom prst="straightConnector1">
            <a:avLst/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4"/>
          <p:cNvSpPr/>
          <p:nvPr/>
        </p:nvSpPr>
        <p:spPr>
          <a:xfrm>
            <a:off x="6263640" y="30632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6263640" y="3383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Historial de estados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6263640" y="37033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Trazabilidad completa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 .claude/ — parte del producto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74320" y="96012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74320" y="96012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110642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CLAUDE.md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Folder map, convenciones del proyecto y contexto del dominio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74320" y="219456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74320" y="219456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" y="23408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rules/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457200" y="2697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 menos una rule path-scoped por capa (frontend, backend, db)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274320" y="342900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274320" y="342900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57200" y="357530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settings.json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457200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Permissions allow / deny / ask configurados con intención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663440" y="96012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663440" y="96012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846320" y="110642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Skill + slash cmd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846320" y="146304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 menos una skill propia invocable desde la CLI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663440" y="219456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663440" y="219456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4846320" y="234086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Sub-agente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4846320" y="269748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Definido si la complejidad del proyecto lo justifica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663440" y="3429000"/>
            <a:ext cx="4114800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38100" rotWithShape="0" algn="bl" dir="8100000" dist="12700">
              <a:srgbClr val="000000">
                <a:alpha val="588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663440" y="3429000"/>
            <a:ext cx="64008" cy="10515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846320" y="3575304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onsolas"/>
              <a:buNone/>
            </a:pPr>
            <a:r>
              <a:rPr b="1" lang="en-US" sz="120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Plan mode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846320" y="393192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Usado durante el desarrollo — vivencia, no entregable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274320" y="4736592"/>
            <a:ext cx="8595360" cy="27432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5760" y="41148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Presentación final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8046720" y="411480"/>
            <a:ext cx="731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65760" y="1508760"/>
            <a:ext cx="502920" cy="502920"/>
          </a:xfrm>
          <a:prstGeom prst="ellipse">
            <a:avLst/>
          </a:prstGeom>
          <a:solidFill>
            <a:srgbClr val="3B82F6">
              <a:alpha val="8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1051560" y="1490472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general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051560" y="181965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Estructura del repo, capas, módulos y responsabilidades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65760" y="2606040"/>
            <a:ext cx="502920" cy="502920"/>
          </a:xfrm>
          <a:prstGeom prst="ellipse">
            <a:avLst/>
          </a:prstGeom>
          <a:solidFill>
            <a:srgbClr val="8B5CF6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365760" y="2606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051560" y="2587752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de Claude Code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051560" y="291693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Cada feature del .claude/, con qué intención y qué efecto tuvo durante el desarrollo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65760" y="3703320"/>
            <a:ext cx="502920" cy="502920"/>
          </a:xfrm>
          <a:prstGeom prst="ellipse">
            <a:avLst/>
          </a:prstGeom>
          <a:solidFill>
            <a:srgbClr val="0D9488">
              <a:alpha val="8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365760" y="3703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051560" y="3685032"/>
            <a:ext cx="6858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del flujo completo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051560" y="4014216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Registro → clasificación → severidad → owner → mitigación → cierre o derivación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Por qué .claude/ es parte del 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00000"/>
            <a:ext cx="8595360" cy="1450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46304"/>
            <a:ext cx="833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B82F6"/>
                </a:solidFill>
                <a:latin typeface="Calibri"/>
              </a:rPr>
              <a:t>INTENCIÓN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74904"/>
            <a:ext cx="833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.claude/ no contiene lógica de la app — es la capa de configuración de runtime del agente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31520"/>
            <a:ext cx="8335360" cy="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Define cómo Claude Code opera sobre ESTE repo: permisos, reglas, conocimiento de dominio y atajos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Convierte al agente en un colaborador alineado con las convenciones del equipo, no genérico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50000"/>
            <a:ext cx="8595360" cy="1700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96304"/>
            <a:ext cx="833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EFECTO MEDIBLE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24904"/>
            <a:ext cx="833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 versiona junto al código — es trazable y auditable como cualquier otra pieza del producto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81520"/>
            <a:ext cx="8335360" cy="9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Cada permiso, regla, skill y comando refleja una decisión consciente sobre cómo debía trabajar el agente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Resultado: separación de capas consistente y fórmula de severidad sin duplicar a través de ~20 prompts incrementales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CLAUDE.md y rules/ — orientación y convenciones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00000"/>
            <a:ext cx="4114800" cy="1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00000"/>
            <a:ext cx="64008" cy="1750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46304"/>
            <a:ext cx="385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CLAUDE.md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2920"/>
            <a:ext cx="3854800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Intención: folder map + dominio (Risk/Issue/severidad/estados) + regla TDD obligatoria, cargado al inicio de cada sesión.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Efecto: el agente arranca con contexto de dominio — no explora a ciegas ni reimplementa la fórmula de severidad.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00000"/>
            <a:ext cx="4114800" cy="17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00000"/>
            <a:ext cx="64008" cy="175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46304"/>
            <a:ext cx="385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rules/ (path-scoped)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02920"/>
            <a:ext cx="3854800" cy="12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Intención: codificar la separación de capas como regla viva — backend.md, frontend.md, database.md (routers sin lógica, services con la lógica, hooks como única vía de fetch).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Efecto: actúa como "linter de arquitectura" en lenguaje natural; mantuvo la separación a través de docenas de prompts.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00000"/>
            <a:ext cx="8595360" cy="1350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46304"/>
            <a:ext cx="833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EJEMPLO CONCRETO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904"/>
            <a:ext cx="833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rules/backend.md exige: Routers → Services → Models, validados por Schemas (Pydantic)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31520"/>
            <a:ext cx="8335360" cy="5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Evitó que lógica de negocio (p.ej. cálculo de severidad) terminara en un router o se duplicara en otro módulo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settings.json — el sandbox de permisos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00000"/>
            <a:ext cx="2750000" cy="2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00000"/>
            <a:ext cx="64008" cy="290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46304"/>
            <a:ext cx="249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allow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2920"/>
            <a:ext cx="2490000" cy="2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Escritura acotada a backend/, frontend/, database/, .claude/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Comandos de desarrollo: npm, alembic revision/upgrade, docker compose up/build, lectura amplia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7160" y="1100000"/>
            <a:ext cx="2750000" cy="2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97160" y="1100000"/>
            <a:ext cx="64008" cy="2900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0040" y="1246304"/>
            <a:ext cx="249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deny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0040" y="1602920"/>
            <a:ext cx="2490000" cy="2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Operaciones irreversibles bloqueadas: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git reset --hard, rm -rf, DROP TABLE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Lectura de .env (secretos)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0" y="1100000"/>
            <a:ext cx="2750000" cy="29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0000" y="1100000"/>
            <a:ext cx="64008" cy="2900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2880" y="1246304"/>
            <a:ext cx="249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880" y="1602920"/>
            <a:ext cx="2490000" cy="2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Requieren mi aprobación explícita: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git commit, git push, git merge, alembic downgrade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50000"/>
            <a:ext cx="8595360" cy="700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96304"/>
            <a:ext cx="833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INTENCIÓN → EFECTO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24904"/>
            <a:ext cx="833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Acotar el "blast radius" de cualquier acción automática del agente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81520"/>
            <a:ext cx="8335360" cy="-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Toda operación que toca estado compartido (repo remoto, esquema de DB) pasó siempre por revisión humana antes de ejecutarse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Skill propia + slash command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00000"/>
            <a:ext cx="4114800" cy="2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00000"/>
            <a:ext cx="64008" cy="2000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46304"/>
            <a:ext cx="385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skills/severity-calculator.md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2920"/>
            <a:ext cx="3854800" cy="1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Intención: capturar la fórmula de severidad (2 pasos: exposición → severidad) como única fuente de verdad consultable, en lugar de dejarla implícita en el código.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Invocada por /calc-severity y /audit-severity.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00000"/>
            <a:ext cx="4114800" cy="20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00000"/>
            <a:ext cx="64008" cy="200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46304"/>
            <a:ext cx="385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skills/status-transitions.md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02920"/>
            <a:ext cx="3854800" cy="14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Intención: documentar la máquina de estados Risk/Issue y el flujo de derivación (open → in_progress → closed/derived).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Invocada por /audit-layers para detectar violaciones de capas.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50000"/>
            <a:ext cx="8595360" cy="1100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496304"/>
            <a:ext cx="833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B5CF6"/>
                </a:solidFill>
                <a:latin typeface="Calibri"/>
              </a:rPr>
              <a:t>EFECTO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24904"/>
            <a:ext cx="833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/audit-severity detectó/previno duplicación de la fórmula entre backend y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81520"/>
            <a:ext cx="833536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El agente consulta la skill antes de tocar lógica de severidad → un único punto de cambio si la fórmula evoluciona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Sub-agente y Plan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00000"/>
            <a:ext cx="4114800" cy="2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00000"/>
            <a:ext cx="64008" cy="2150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46304"/>
            <a:ext cx="385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Sub-agente (Explore / auditoría)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2920"/>
            <a:ext cx="3854800" cy="1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Intención: separar el contexto de búsqueda/auditoría (localizar código, revisar capas) del contexto de implementación.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Justificación: evita saturar un solo hilo de conversación y permite paralelizar research vs. escritura de código.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00000"/>
            <a:ext cx="4114800" cy="21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00000"/>
            <a:ext cx="64008" cy="215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246304"/>
            <a:ext cx="385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Plan mode — vivencia, no archivo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02920"/>
            <a:ext cx="3854800" cy="1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Intención: antes de tocar módulos grandes (auth con JWT/Google OAuth, derivación Risk→Issue), el agente propone el approach y se discute antes de escribir código.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Efecto: menos refactors no pedidos, menos iteraciones de corrección.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00000"/>
            <a:ext cx="8595360" cy="1000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46304"/>
            <a:ext cx="833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Calibri"/>
              </a:rPr>
              <a:t>POR QUÉ NO ES UN ARCHIVO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74904"/>
            <a:ext cx="833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Plan mode se vive durante el desarrollo — no deja un artefacto en .claude/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31520"/>
            <a:ext cx="833536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Se documenta acá, en la presentación, como evidencia de uso (no como entregable versionado)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Arquitectura del repo — capas y contratos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0"/>
            <a:ext cx="731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00000"/>
            <a:ext cx="2750000" cy="29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00000"/>
            <a:ext cx="64008" cy="2950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46304"/>
            <a:ext cx="249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Backend (FastAPI)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2920"/>
            <a:ext cx="2490000" cy="2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api/ → routers, sin lógica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services/ → toda la lógica de negocio (severity_calculator, auth_service, audit_service)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models/ → estructura SQLAlchemy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schemas/ → validación Pydantic + enums (common.py)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97160" y="1100000"/>
            <a:ext cx="2750000" cy="29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97160" y="1100000"/>
            <a:ext cx="64008" cy="2950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0040" y="1246304"/>
            <a:ext cx="249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Frontend (React/Vite)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0040" y="1602920"/>
            <a:ext cx="2490000" cy="2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pages/ → vistas por ruta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components/ → UI pura, reciben props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hooks/ → única vía de acceso a datos, exponen {data, loading, error}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api/ → funciones HTTP puras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0" y="1100000"/>
            <a:ext cx="2750000" cy="29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0000" y="1100000"/>
            <a:ext cx="64008" cy="2950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2880" y="1246304"/>
            <a:ext cx="249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293B"/>
                </a:solidFill>
                <a:latin typeface="Consolas"/>
              </a:rPr>
              <a:t>Persistencia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2880" y="1602920"/>
            <a:ext cx="2490000" cy="2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database/init.sql → DDL base (UUID, timestamps, enums, índices en FKs)</a:t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/>
            </a:r>
          </a:p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migrations/ (Alembic) → evoluciona el esquema sin tocar lo aplicado en main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200000"/>
            <a:ext cx="8595360" cy="700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46304"/>
            <a:ext cx="8335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EF4444"/>
                </a:solidFill>
                <a:latin typeface="Calibri"/>
              </a:rPr>
              <a:t>CONTRATOS TRANSVERSALES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574904"/>
            <a:ext cx="833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Paginación uniforme {items,total,page,size,pages} · auditoría append-only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1520"/>
            <a:ext cx="8335360" cy="-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• Toda acción mutante queda en audit_log; todo cambio de estado en history_entries (sin UPDATE/DELETE)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2026-05-23T18:42:06Z</dcterms:created>
  <dc:creator>PptxGenJS</dc:creator>
</cp:coreProperties>
</file>