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76" r:id="rId19"/>
    <p:sldId id="277" r:id="rId20"/>
    <p:sldId id="264" r:id="rId21"/>
    <p:sldId id="265" r:id="rId22"/>
    <p:sldId id="275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28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Introducir el proyecto y el eje de la charla: cómo Claude fue el copiloto de desarrollo.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a la parte 2: qué hace 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84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Contextualizar el problema antes de mostrar la solución.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270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cómo las entidades se relacionan entre 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23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máquina de estados es el corazón del sistema. Claude la implementó siguiendo status-transitions.md.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78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fórmula de severidad es el core del dominio. Claude la implementó perfectamente desde el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569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de aprobación garantiza que solo usuarios autorizados accedan al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73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arquitectura sigue la separación de capas definida en las rules de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830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auditoría es un requerimiento no funcional crítico. Claude la implementó en audit_service.py.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544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capturas reales si están disponibles. Estos son los módulos principales.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909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a la parte 1: proceso de desarrollo con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ciclo completo: CLAUDE.md → Rules → Skills → Commands → Playwright.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CLAUDE.md es la fuente de verdad que Claude lee en cada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rules evitan que Claude mezcle capas o use patrones no acordados.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skills son la memoria procedimental del proyecto. Claude los lee y los aplica.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Commands = superpoderes del desarrollador. Un slash y Claude ejecuta flujos complejos.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hace TDD real: nunca entrega una tarea sin tests pasando.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Mostrar</a:t>
            </a:r>
            <a:r>
              <a:rPr dirty="0"/>
              <a:t> el </a:t>
            </a:r>
            <a:r>
              <a:rPr dirty="0" err="1"/>
              <a:t>mapa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27 prompts. </a:t>
            </a:r>
            <a:r>
              <a:rPr dirty="0" err="1"/>
              <a:t>Señalar</a:t>
            </a:r>
            <a:r>
              <a:rPr dirty="0"/>
              <a:t> la </a:t>
            </a:r>
            <a:r>
              <a:rPr dirty="0" err="1"/>
              <a:t>progresión</a:t>
            </a:r>
            <a:r>
              <a:rPr dirty="0"/>
              <a:t>: setup → backend → frontend → hotfixes → features </a:t>
            </a:r>
            <a:r>
              <a:rPr dirty="0" err="1"/>
              <a:t>avanzadas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Mostrar</a:t>
            </a:r>
            <a:r>
              <a:rPr dirty="0"/>
              <a:t> la </a:t>
            </a:r>
            <a:r>
              <a:rPr dirty="0" err="1"/>
              <a:t>diversidad</a:t>
            </a:r>
            <a:r>
              <a:rPr dirty="0"/>
              <a:t> de prompts: </a:t>
            </a:r>
            <a:r>
              <a:rPr dirty="0" err="1"/>
              <a:t>desde</a:t>
            </a:r>
            <a:r>
              <a:rPr dirty="0"/>
              <a:t> specs </a:t>
            </a:r>
            <a:r>
              <a:rPr dirty="0" err="1"/>
              <a:t>técnicas</a:t>
            </a:r>
            <a:r>
              <a:rPr dirty="0"/>
              <a:t> </a:t>
            </a:r>
            <a:r>
              <a:rPr dirty="0" err="1"/>
              <a:t>detalladas</a:t>
            </a:r>
            <a:r>
              <a:rPr dirty="0"/>
              <a:t> hasta un simple 'se </a:t>
            </a:r>
            <a:r>
              <a:rPr dirty="0" err="1"/>
              <a:t>ve</a:t>
            </a:r>
            <a:r>
              <a:rPr dirty="0"/>
              <a:t> en </a:t>
            </a:r>
            <a:r>
              <a:rPr dirty="0" err="1"/>
              <a:t>blanco</a:t>
            </a:r>
            <a:r>
              <a:rPr dirty="0"/>
              <a:t> </a:t>
            </a:r>
            <a:r>
              <a:rPr dirty="0" err="1"/>
              <a:t>revisá</a:t>
            </a:r>
            <a:r>
              <a:rPr dirty="0"/>
              <a:t>'. El </a:t>
            </a:r>
            <a:r>
              <a:rPr dirty="0" err="1"/>
              <a:t>contexto</a:t>
            </a:r>
            <a:r>
              <a:rPr dirty="0"/>
              <a:t> </a:t>
            </a:r>
            <a:r>
              <a:rPr dirty="0" err="1"/>
              <a:t>acumulado</a:t>
            </a:r>
            <a:r>
              <a:rPr dirty="0"/>
              <a:t> (CLAUDE.md, rules, skills) </a:t>
            </a:r>
            <a:r>
              <a:rPr dirty="0" err="1"/>
              <a:t>hace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incluso</a:t>
            </a:r>
            <a:r>
              <a:rPr dirty="0"/>
              <a:t> prompts </a:t>
            </a:r>
            <a:r>
              <a:rPr dirty="0" err="1"/>
              <a:t>cortos</a:t>
            </a:r>
            <a:r>
              <a:rPr dirty="0"/>
              <a:t> </a:t>
            </a:r>
            <a:r>
              <a:rPr dirty="0" err="1"/>
              <a:t>generen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correcto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preview-check.yml como ejemplo de lo que Claude ve en la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generó el 100% del proyecto. El rol del desarrollador fue guiar y validar.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Claude no reemplaza al desarrollador, lo amplifica. El desarrollador define el qué, Claude resuelve el cómo.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EFD9D-C525-CD54-C9F1-76CD020B6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2282D-E106-7B88-606C-28ED83506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DDCFD6-9CB3-58A0-5CCD-540F76EFF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Introducir el proyecto y el eje de la charla: cómo Claude fue el copiloto de desarrollo.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20F51-6E44-0D78-292F-97E06D8A50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4864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82296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0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RiskIssueTracker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1508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con Claude AI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2194560"/>
            <a:ext cx="8229600" cy="0"/>
          </a:xfrm>
          <a:prstGeom prst="line">
            <a:avLst/>
          </a:prstGeom>
          <a:noFill/>
          <a:ln w="12700">
            <a:solidFill>
              <a:srgbClr val="2E40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-1325880" y="217471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idea               …                 al sistema en producción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IA como asistente en el desarrollo de software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4105656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Qué hace el Sistema</a:t>
            </a:r>
          </a:p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construyó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Claude  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373874A3-1941-F85A-1E10-7FB269E145F4}"/>
              </a:ext>
            </a:extLst>
          </p:cNvPr>
          <p:cNvSpPr/>
          <p:nvPr/>
        </p:nvSpPr>
        <p:spPr>
          <a:xfrm>
            <a:off x="502920" y="3081528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Ingenieria de Software asistida por IA</a:t>
            </a:r>
            <a:endParaRPr lang="en-US" sz="1500" dirty="0"/>
          </a:p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Enzo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Pacilio Irrazabal</a:t>
            </a: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Alumnos: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Rodolfo Di Chiazza – Gustavo Julián Rivas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1440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64592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RiskIssueTracker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y seguimiento de riesgos e issues por proyecto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63418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resuelve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86868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1440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gestión de proyectos, los riesgos sin seguimiento sistemático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convierten en problemas no anticipados que impactan costo, tiempo y alcance.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783080"/>
            <a:ext cx="4160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502920" y="1892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 trazabilidad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2585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riesgos viven en planillas Excel o emails sin historial ni auditoría.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783080"/>
            <a:ext cx="4160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4937760" y="1892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 metodología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37760" y="22585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PM calcula el impacto de forma diferente. No hay fórmula estándar.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3246120"/>
            <a:ext cx="4160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Text 10"/>
          <p:cNvSpPr/>
          <p:nvPr/>
        </p:nvSpPr>
        <p:spPr>
          <a:xfrm>
            <a:off x="502920" y="33558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 vínculo Risk→Issue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37216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riesgo se materializa, no hay conexión con el problema resultante.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3246120"/>
            <a:ext cx="4160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Text 13"/>
          <p:cNvSpPr/>
          <p:nvPr/>
        </p:nvSpPr>
        <p:spPr>
          <a:xfrm>
            <a:off x="4937760" y="33558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 visibilidad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937760" y="37216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stakeholders no tienen una vista unificada de todos los proyectos.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88276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entidades del sistema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86868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91440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" name="Shape 3"/>
          <p:cNvSpPr/>
          <p:nvPr/>
        </p:nvSpPr>
        <p:spPr>
          <a:xfrm>
            <a:off x="457200" y="1024128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475488" y="104241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5488" y="1417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 user. Autenticable via Google OAuth o email/password. Flujo de aprobación.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00600" y="91440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7"/>
          <p:cNvSpPr/>
          <p:nvPr/>
        </p:nvSpPr>
        <p:spPr>
          <a:xfrm>
            <a:off x="4892040" y="1024128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8"/>
          <p:cNvSpPr/>
          <p:nvPr/>
        </p:nvSpPr>
        <p:spPr>
          <a:xfrm>
            <a:off x="4910328" y="104241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10328" y="1417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o cliente. Contenedor de todos los riesgos e issues.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5760" y="2212848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Shape 11"/>
          <p:cNvSpPr/>
          <p:nvPr/>
        </p:nvSpPr>
        <p:spPr>
          <a:xfrm>
            <a:off x="457200" y="2322576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2"/>
          <p:cNvSpPr/>
          <p:nvPr/>
        </p:nvSpPr>
        <p:spPr>
          <a:xfrm>
            <a:off x="475488" y="234086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5488" y="27157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identificado con probabilidad, impacto, proximidad y severidad calculada.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00600" y="2212848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Shape 15"/>
          <p:cNvSpPr/>
          <p:nvPr/>
        </p:nvSpPr>
        <p:spPr>
          <a:xfrm>
            <a:off x="4892040" y="2322576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6"/>
          <p:cNvSpPr/>
          <p:nvPr/>
        </p:nvSpPr>
        <p:spPr>
          <a:xfrm>
            <a:off x="4910328" y="234086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10328" y="27157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activo derivado de un Risk. Se crea cuando el riesgo se materializa.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" y="3511296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2" name="Shape 19"/>
          <p:cNvSpPr/>
          <p:nvPr/>
        </p:nvSpPr>
        <p:spPr>
          <a:xfrm>
            <a:off x="457200" y="3621024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0"/>
          <p:cNvSpPr/>
          <p:nvPr/>
        </p:nvSpPr>
        <p:spPr>
          <a:xfrm>
            <a:off x="475488" y="363931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HistoryEntry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5488" y="40142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de transiciones de estado. Append-only. Registro inmutable.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00600" y="3511296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6" name="Shape 23"/>
          <p:cNvSpPr/>
          <p:nvPr/>
        </p:nvSpPr>
        <p:spPr>
          <a:xfrm>
            <a:off x="4892040" y="3621024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4"/>
          <p:cNvSpPr/>
          <p:nvPr/>
        </p:nvSpPr>
        <p:spPr>
          <a:xfrm>
            <a:off x="4910328" y="363931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910328" y="40142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acciones de todos los usuarios. Append-only. Compliance completo.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225423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 un Riesgo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1A2744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100584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E8630A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2926080" y="1005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12080" y="100584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5212080" y="1005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(mitigado)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1280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2744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83480" y="1280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2744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86200" y="19385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C2626"/>
                </a:solidFill>
              </a:rPr>
              <a:t>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 se materializa)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0" y="265176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2926080" y="2651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 Issue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2651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resultante: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0" y="306324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/>
          <a:effectLst>
            <a:outerShdw blurRad="508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566928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34564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744"/>
                </a:solidFill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0" y="356616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E8630A"/>
          </a:solidFill>
          <a:ln/>
          <a:effectLst>
            <a:outerShdw blurRad="508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566928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39593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744"/>
                </a:solidFill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0" y="40690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/>
          <a:effectLst>
            <a:outerShdw blurRad="508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566928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412480" cy="539496"/>
          </a:xfrm>
          <a:prstGeom prst="roundRect">
            <a:avLst>
              <a:gd name="adj" fmla="val 8421"/>
            </a:avLst>
          </a:prstGeom>
          <a:solidFill>
            <a:srgbClr val="1A2744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548640" y="4562855"/>
            <a:ext cx="8046720" cy="481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Cada transición de estado genera una HistoryEntry inmutable + entrada en AuditLog</a:t>
            </a:r>
            <a:endParaRPr lang="en-US" sz="13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9EEFE12A-0BB7-ED28-25B2-FFF33EAC54B5}"/>
              </a:ext>
            </a:extLst>
          </p:cNvPr>
          <p:cNvSpPr/>
          <p:nvPr/>
        </p:nvSpPr>
        <p:spPr>
          <a:xfrm>
            <a:off x="5120640" y="267270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2744"/>
                </a:solidFill>
              </a:rPr>
              <a:t>→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20207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Severidad — La fórmula del dominio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31920" cy="2057400"/>
          </a:xfrm>
          <a:prstGeom prst="roundRect">
            <a:avLst>
              <a:gd name="adj" fmla="val 4444"/>
            </a:avLst>
          </a:prstGeom>
          <a:solidFill>
            <a:srgbClr val="2E4080"/>
          </a:solidFill>
          <a:ln/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— Exposición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= prob_weight × impact_weight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556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37360" y="17556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Prob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71800" y="17556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Impacto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9568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bajo/a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37360" y="19568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0.056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71800" y="19568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15798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Bajo/a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37360" y="215798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71800" y="215798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3591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Medio/a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737360" y="23591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71800" y="23591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Alto/a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737360" y="2560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71800" y="2560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27614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alto/a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737360" y="27614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971800" y="27614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868680"/>
            <a:ext cx="4297680" cy="2057400"/>
          </a:xfrm>
          <a:prstGeom prst="roundRect">
            <a:avLst>
              <a:gd name="adj" fmla="val 4444"/>
            </a:avLst>
          </a:prstGeom>
          <a:solidFill>
            <a:srgbClr val="2E4080"/>
          </a:solidFill>
          <a:ln/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4709160" y="914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— Severidad (1–9)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09160" y="13533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Lookup: proximidad × zona de exposición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17556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Proximidad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760720" y="17556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(≤0.09)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12280" y="17556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(0.10–0.24)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863840" y="17556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(≥0.28)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09160" y="19568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60720" y="19568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12280" y="19568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863840" y="19568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09160" y="21579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Mediano plazo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60720" y="21579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12280" y="21579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863840" y="21579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09160" y="23591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plazo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760720" y="23591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12280" y="23591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863840" y="23591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09160" y="2788920"/>
            <a:ext cx="4023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más crítico  ·  9 = menos crítico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3063240"/>
            <a:ext cx="8503920" cy="1719072"/>
          </a:xfrm>
          <a:prstGeom prst="roundRect">
            <a:avLst>
              <a:gd name="adj" fmla="val 5319"/>
            </a:avLst>
          </a:prstGeom>
          <a:solidFill>
            <a:srgbClr val="24336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6" name="Text 44"/>
          <p:cNvSpPr/>
          <p:nvPr/>
        </p:nvSpPr>
        <p:spPr>
          <a:xfrm>
            <a:off x="548640" y="3154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del preview-check.yml: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8640" y="3520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Probabilidad: Muy alta (0.80) × Impacto: Bajo (0.30) = Exposición 0.09 → Zona BAJO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8640" y="3886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Proximidad: Corto plazo → Severidad = 5 (MODERADO) ✓ verificado via Playwright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severity_calculator.py es la única fuente de verdad. Claude la generó siguiendo el skill.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2408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Autenticación, roles y flujo de usuarios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8686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autenticación: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89888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635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5943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1764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cuenta Google via VITE_GOOGLE_CLIENT_ID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304288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635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59436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2679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manual con JWT firmado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70332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E8630A"/>
          </a:solidFill>
          <a:ln/>
          <a:effectLst>
            <a:outerShdw blurRad="508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Text 11"/>
          <p:cNvSpPr/>
          <p:nvPr/>
        </p:nvSpPr>
        <p:spPr>
          <a:xfrm>
            <a:off x="594360" y="3703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 Aprueba/desactiva usuarios, accede a /admin/*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361688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  <a:effectLst>
            <a:outerShdw blurRad="508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Text 13"/>
          <p:cNvSpPr/>
          <p:nvPr/>
        </p:nvSpPr>
        <p:spPr>
          <a:xfrm>
            <a:off x="594360" y="43616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 Crea y gestiona risks/issues en sus proyectos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0" y="914400"/>
            <a:ext cx="4251960" cy="3822192"/>
          </a:xfrm>
          <a:prstGeom prst="roundRect">
            <a:avLst>
              <a:gd name="adj" fmla="val 239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Text 15"/>
          <p:cNvSpPr/>
          <p:nvPr/>
        </p:nvSpPr>
        <p:spPr>
          <a:xfrm>
            <a:off x="470916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registro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709160" y="1481328"/>
            <a:ext cx="502920" cy="5029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7"/>
          <p:cNvSpPr/>
          <p:nvPr/>
        </p:nvSpPr>
        <p:spPr>
          <a:xfrm>
            <a:off x="470916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03520" y="14996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03520" y="17922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(Google o email)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864608" y="198424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↓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709160" y="2441448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2"/>
          <p:cNvSpPr/>
          <p:nvPr/>
        </p:nvSpPr>
        <p:spPr>
          <a:xfrm>
            <a:off x="470916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303520" y="24597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303520" y="27523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aprueba al usuario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64608" y="29443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↓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709160" y="340156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7"/>
          <p:cNvSpPr/>
          <p:nvPr/>
        </p:nvSpPr>
        <p:spPr>
          <a:xfrm>
            <a:off x="4709160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303520" y="34198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303520" y="37124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puede desactivar (baja lógica)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709160" y="4160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usuarios nunca se borran — baja lógica solamente.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54376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técnica del sistema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97480" cy="3840480"/>
          </a:xfrm>
          <a:prstGeom prst="roundRect">
            <a:avLst>
              <a:gd name="adj" fmla="val 3390"/>
            </a:avLst>
          </a:prstGeom>
          <a:solidFill>
            <a:srgbClr val="2E4080"/>
          </a:solidFill>
          <a:ln/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97480" cy="731520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6974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441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· Puerto 3000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Pages (una por ruta)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44144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Components reutilizables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09981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Hooks (API + estado)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75818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Google OAuth client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63240" y="2468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630A"/>
                </a:solidFill>
              </a:rPr>
              <a:t>⟷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91840" y="914400"/>
            <a:ext cx="2697480" cy="3840480"/>
          </a:xfrm>
          <a:prstGeom prst="roundRect">
            <a:avLst>
              <a:gd name="adj" fmla="val 3390"/>
            </a:avLst>
          </a:prstGeom>
          <a:solidFill>
            <a:srgbClr val="2E4080"/>
          </a:solidFill>
          <a:ln/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3291840" y="914400"/>
            <a:ext cx="2697480" cy="731520"/>
          </a:xfrm>
          <a:prstGeom prst="roundRect">
            <a:avLst>
              <a:gd name="adj" fmla="val 12500"/>
            </a:avLst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3291840" y="1371600"/>
            <a:ext cx="2697480" cy="2743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3383280" y="9601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13441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Puerto 8000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178308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Routers (solo HTTP)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244144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Services (lógica)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309981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Models (SQLAlchemy 2.0)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375818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 + Google OAuth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2468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630A"/>
                </a:solidFill>
              </a:rPr>
              <a:t>⟷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17920" y="914400"/>
            <a:ext cx="2697480" cy="3840480"/>
          </a:xfrm>
          <a:prstGeom prst="roundRect">
            <a:avLst>
              <a:gd name="adj" fmla="val 3390"/>
            </a:avLst>
          </a:prstGeom>
          <a:solidFill>
            <a:srgbClr val="2E4080"/>
          </a:solidFill>
          <a:ln/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6217920" y="914400"/>
            <a:ext cx="2697480" cy="731520"/>
          </a:xfrm>
          <a:prstGeom prst="roundRect">
            <a:avLst>
              <a:gd name="adj" fmla="val 125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2697480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6309360" y="9601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9360" y="13441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· Docker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5080" y="178308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Enums nativos PG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244144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Índices optimizados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309981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Migraciones Alembic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375818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Triggers de auditoría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orquesta los 3 servicios + volúmenes persistentes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54866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e historial completo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86868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86868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acción en el sistema genera un registro inmutable. Compliance total.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41732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475488" y="150876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HistoryEntry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5488" y="2057400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Timeline de transiciones de estado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5488" y="2715768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Cada Risk e Issue tiene su historia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" y="3374136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Append-only: no se edita ni se borra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5488" y="4032504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Visible para el usuario en la UI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141732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Text 10"/>
          <p:cNvSpPr/>
          <p:nvPr/>
        </p:nvSpPr>
        <p:spPr>
          <a:xfrm>
            <a:off x="3355848" y="150876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AuditLog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355848" y="2057400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Registra TODAS las acciones mutantes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55848" y="2715768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Usuario, acción, timestamp, payload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355848" y="3374136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Solo los admins pueden consultarlo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355848" y="4032504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Permite auditorías de compliance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141732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Text 16"/>
          <p:cNvSpPr/>
          <p:nvPr/>
        </p:nvSpPr>
        <p:spPr>
          <a:xfrm>
            <a:off x="6236208" y="150876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Paginación estándar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36208" y="2057400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Todos los endpoints de lista paginan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36208" y="2715768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?page=1&amp;size=20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36208" y="3374136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Respuesta: items, total, page, pages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36208" y="4032504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Frontend muestra controles de paginación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81289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del Sistema -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206240" cy="365760"/>
          </a:xfrm>
          <a:prstGeom prst="roundRect">
            <a:avLst>
              <a:gd name="adj" fmla="val 25000"/>
            </a:avLst>
          </a:prstGeom>
          <a:solidFill>
            <a:srgbClr val="243360"/>
          </a:solidFill>
          <a:ln w="12700">
            <a:solidFill>
              <a:srgbClr val="24336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●  ●   Dashboard de proyecto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0600" y="868680"/>
            <a:ext cx="4069080" cy="365760"/>
          </a:xfrm>
          <a:prstGeom prst="roundRect">
            <a:avLst>
              <a:gd name="adj" fmla="val 25000"/>
            </a:avLst>
          </a:prstGeom>
          <a:solidFill>
            <a:srgbClr val="243360"/>
          </a:solidFill>
          <a:ln w="12700">
            <a:solidFill>
              <a:srgbClr val="24336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4892040" y="8686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●  ●   Formulario de riesgo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2926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●  ●   Detalle de riesgo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corriendo en localhost:3000 — React + Vite — verificada con Playwright</a:t>
            </a:r>
            <a:endParaRPr lang="en-US" sz="10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DFC1F78-E29B-5A46-88CB-54766AAB5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4178219" cy="344068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98995DA-F326-D325-AAE2-4AC1040EA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213728"/>
            <a:ext cx="4069080" cy="362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311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6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9728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Claude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construyó este proyecto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· Prompts · Rules · Skills · Playwright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workflow de desarrollo con Claude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554480" cy="3474720"/>
          </a:xfrm>
          <a:prstGeom prst="roundRect">
            <a:avLst>
              <a:gd name="adj" fmla="val 7059"/>
            </a:avLst>
          </a:prstGeom>
          <a:solidFill>
            <a:srgbClr val="1A2744"/>
          </a:solidFill>
          <a:ln/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proyecto, arquitectura y dominio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21945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011680" y="914400"/>
            <a:ext cx="1554480" cy="3474720"/>
          </a:xfrm>
          <a:prstGeom prst="roundRect">
            <a:avLst>
              <a:gd name="adj" fmla="val 7059"/>
            </a:avLst>
          </a:prstGeom>
          <a:solidFill>
            <a:srgbClr val="1A2744"/>
          </a:solidFill>
          <a:ln/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2011680" y="1005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1168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57400" y="2148840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Convenciones por capa: backend, frontend, DB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749040" y="914400"/>
            <a:ext cx="1554480" cy="3474720"/>
          </a:xfrm>
          <a:prstGeom prst="roundRect">
            <a:avLst>
              <a:gd name="adj" fmla="val 7059"/>
            </a:avLst>
          </a:prstGeom>
          <a:solidFill>
            <a:srgbClr val="1A2744"/>
          </a:solidFill>
          <a:ln/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3749040" y="1005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4904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94760" y="2148840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reutilizables para tareas recurrentes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21945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0" y="914400"/>
            <a:ext cx="1554480" cy="3474720"/>
          </a:xfrm>
          <a:prstGeom prst="roundRect">
            <a:avLst>
              <a:gd name="adj" fmla="val 7059"/>
            </a:avLst>
          </a:prstGeom>
          <a:solidFill>
            <a:srgbClr val="1A2744"/>
          </a:solidFill>
          <a:ln/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5486400" y="1005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8640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32120" y="2148840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Automatizaciones slash: /calc-severity etc.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21945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223760" y="914400"/>
            <a:ext cx="1554480" cy="3474720"/>
          </a:xfrm>
          <a:prstGeom prst="roundRect">
            <a:avLst>
              <a:gd name="adj" fmla="val 7059"/>
            </a:avLst>
          </a:prstGeom>
          <a:solidFill>
            <a:srgbClr val="E8630A"/>
          </a:solidFill>
          <a:ln/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7223760" y="1005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22376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69480" y="2148840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visual end-to-end automático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recibe contexto rico y genera código de producción en cada paso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— El cerebro del proyecto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CLAUDE.md?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13258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archivo Markdown que le da a Claude todo el contexto del proyecto.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Actúa como "system prompt" persistente para todo el equipo.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2606040" cy="1254378"/>
          </a:xfrm>
          <a:prstGeom prst="roundRect">
            <a:avLst>
              <a:gd name="adj" fmla="val 3509"/>
            </a:avLst>
          </a:prstGeom>
          <a:solidFill>
            <a:srgbClr val="2E4080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2606040" cy="54864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548640" y="2286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&amp; Entidades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623812"/>
            <a:ext cx="2423160" cy="779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Projects, Risks, Issues, HistoryEntry, AuditLog. Claude conoce el modelo de datos completo.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3601911"/>
            <a:ext cx="2606040" cy="1254378"/>
          </a:xfrm>
          <a:prstGeom prst="roundRect">
            <a:avLst>
              <a:gd name="adj" fmla="val 3509"/>
            </a:avLst>
          </a:prstGeom>
          <a:solidFill>
            <a:srgbClr val="2E4080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Shape 9"/>
          <p:cNvSpPr/>
          <p:nvPr/>
        </p:nvSpPr>
        <p:spPr>
          <a:xfrm>
            <a:off x="502920" y="3513960"/>
            <a:ext cx="2606040" cy="54864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0"/>
          <p:cNvSpPr/>
          <p:nvPr/>
        </p:nvSpPr>
        <p:spPr>
          <a:xfrm>
            <a:off x="594360" y="3651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" y="4118289"/>
            <a:ext cx="2423160" cy="696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estados, cálculo de severidad (2 pasos), roles, flujo de registro de usuarios.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46120" y="2148839"/>
            <a:ext cx="2606040" cy="2666043"/>
          </a:xfrm>
          <a:prstGeom prst="roundRect">
            <a:avLst>
              <a:gd name="adj" fmla="val 3509"/>
            </a:avLst>
          </a:prstGeom>
          <a:solidFill>
            <a:srgbClr val="2E4080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Shape 13"/>
          <p:cNvSpPr/>
          <p:nvPr/>
        </p:nvSpPr>
        <p:spPr>
          <a:xfrm>
            <a:off x="3246120" y="2148840"/>
            <a:ext cx="2606040" cy="54864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4"/>
          <p:cNvSpPr/>
          <p:nvPr/>
        </p:nvSpPr>
        <p:spPr>
          <a:xfrm>
            <a:off x="3337560" y="2286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Map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337560" y="278892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carpetas por capa. Claude sabe dónde poner cada archivo sin preguntar.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961DA0E-E3FE-7D04-946F-61240262C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156382"/>
            <a:ext cx="3001899" cy="2699907"/>
          </a:xfrm>
          <a:prstGeom prst="rect">
            <a:avLst/>
          </a:prstGeom>
        </p:spPr>
      </p:pic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9144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— Convenciones por capa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8686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8686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rules son archivos .md en .claude/rules/ que definen cómo Claude escribe código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capa. Sin ellas, Claude toma decisiones inconsistentes.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691640"/>
            <a:ext cx="2651760" cy="3154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4"/>
          <p:cNvSpPr/>
          <p:nvPr/>
        </p:nvSpPr>
        <p:spPr>
          <a:xfrm>
            <a:off x="365760" y="169164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Shape 5"/>
          <p:cNvSpPr/>
          <p:nvPr/>
        </p:nvSpPr>
        <p:spPr>
          <a:xfrm>
            <a:off x="365760" y="1965960"/>
            <a:ext cx="2651760" cy="2286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457200" y="1719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backend.md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22860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Routers: solo reciben/devuelven JSON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277063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Services: toda la lógica de negocio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25526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Models: solo estructura de tablas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373989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SQLAlchemy 2.0 + Pydantic v2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422452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Audit en toda acción mutante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46120" y="1691640"/>
            <a:ext cx="2651760" cy="3154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Shape 13"/>
          <p:cNvSpPr/>
          <p:nvPr/>
        </p:nvSpPr>
        <p:spPr>
          <a:xfrm>
            <a:off x="3246120" y="169164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Shape 14"/>
          <p:cNvSpPr/>
          <p:nvPr/>
        </p:nvSpPr>
        <p:spPr>
          <a:xfrm>
            <a:off x="3246120" y="1965960"/>
            <a:ext cx="2651760" cy="228600"/>
          </a:xfrm>
          <a:prstGeom prst="rect">
            <a:avLst/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5"/>
          <p:cNvSpPr/>
          <p:nvPr/>
        </p:nvSpPr>
        <p:spPr>
          <a:xfrm>
            <a:off x="3337560" y="1719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frontend.md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383280" y="22860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Pages: una por ruta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383280" y="277063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Components: reutilizables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383280" y="325526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Hooks: encapsulan API + estado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383280" y="373989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api/: funciones puras HTTP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383280" y="422452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+ Vite, sin lógica en páginas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26480" y="1691640"/>
            <a:ext cx="2651760" cy="3154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5" name="Shape 22"/>
          <p:cNvSpPr/>
          <p:nvPr/>
        </p:nvSpPr>
        <p:spPr>
          <a:xfrm>
            <a:off x="6126480" y="169164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Shape 23"/>
          <p:cNvSpPr/>
          <p:nvPr/>
        </p:nvSpPr>
        <p:spPr>
          <a:xfrm>
            <a:off x="6126480" y="1965960"/>
            <a:ext cx="2651760" cy="2286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4"/>
          <p:cNvSpPr/>
          <p:nvPr/>
        </p:nvSpPr>
        <p:spPr>
          <a:xfrm>
            <a:off x="6217920" y="1719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database.md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263640" y="22860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Migraciones con Alembic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263640" y="277063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init.sql: DDL completo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263640" y="325526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seeds.sql: datos de prueba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263640" y="373989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Enums en common.py (única fuente)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263640" y="422452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Índices para queries frecuentes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— Guías reutilizables para Claude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skills son el "know-how" codificado del proyecto. Claude los consulta antes de ejecutar tareas complejas.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severity-calculator.md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completa de 2 pasos: exposición → severidad. Claude la ejecuta sin errores.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46304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add-endpoint.md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para agregar un endpoint: router + schema + service + test. Nada se olvida.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60604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502920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status-transitions.md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017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 de Risk e Issue. Claude valida transiciones antes de implementar.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260604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4937760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api-conventions.md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017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HTTP, paginación, auth header. Consistencia en toda la API.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502920" y="3840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ui-design-react.md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160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Estética minimalista para el frontend. Claude respeta el design system.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374904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4937760" y="3840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run-local.md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4160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levantar la app con Docker Compose. Claude puede dar instrucciones exactas.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— Automatización con slash commands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8686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86868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commands son atajos que Claude ejecuta cuando el desarrollador escribe /comando.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Encapsulan flujos complejos en una sola instrucción.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645920"/>
            <a:ext cx="4160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4"/>
          <p:cNvSpPr/>
          <p:nvPr/>
        </p:nvSpPr>
        <p:spPr>
          <a:xfrm>
            <a:off x="457200" y="1755648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475488" y="1773936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/calc-severity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5488" y="221284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exposición y severidad dado probability, impact y proximity. Aplica la fórmula de 2 pasos del dominio.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1645920"/>
            <a:ext cx="4160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8"/>
          <p:cNvSpPr/>
          <p:nvPr/>
        </p:nvSpPr>
        <p:spPr>
          <a:xfrm>
            <a:off x="4892040" y="1755648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/>
          <p:nvPr/>
        </p:nvSpPr>
        <p:spPr>
          <a:xfrm>
            <a:off x="4910328" y="1773936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/new-migration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10328" y="221284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el comando alembic correcto + checklist de convenciones DB. Evita errores de migración.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3200400"/>
            <a:ext cx="4160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2"/>
          <p:cNvSpPr/>
          <p:nvPr/>
        </p:nvSpPr>
        <p:spPr>
          <a:xfrm>
            <a:off x="457200" y="3310128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3"/>
          <p:cNvSpPr/>
          <p:nvPr/>
        </p:nvSpPr>
        <p:spPr>
          <a:xfrm>
            <a:off x="475488" y="3328416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/audit-layers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5488" y="376732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violaciones de separación de capas en backend y frontend. Claude hace code review automático.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00600" y="3200400"/>
            <a:ext cx="4160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Shape 16"/>
          <p:cNvSpPr/>
          <p:nvPr/>
        </p:nvSpPr>
        <p:spPr>
          <a:xfrm>
            <a:off x="4892040" y="3310128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7"/>
          <p:cNvSpPr/>
          <p:nvPr/>
        </p:nvSpPr>
        <p:spPr>
          <a:xfrm>
            <a:off x="4910328" y="3328416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/audit-severity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10328" y="376732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inconsistencias entre severidad almacenada y fórmula actual. Valida integridad de datos.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con Claude — Test-Driven Development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1440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OBLIGATORIA: Todo código nuevo requiere tests. Claude sigue el ciclo rojo → verde → refactor.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2E4080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594360" y="1645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Test rojo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9385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escribe el test primero. Falla porque no existe implementación.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60604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2E4080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594360" y="2651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Implementación mínima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29443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implementa solo lo necesario para que el test pase.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61188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2E4080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Text 10"/>
          <p:cNvSpPr/>
          <p:nvPr/>
        </p:nvSpPr>
        <p:spPr>
          <a:xfrm>
            <a:off x="594360" y="3657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Refactor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" y="39502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limpia el código sin romper los tests.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6072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tests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76072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backend/tests/unit/services/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760720" y="23865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test_severity_calculator.py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760720" y="2807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backend/tests/integration/api/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76072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Tests de endpoints HTTP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760720" y="36484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frontend/src/__tests__/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76072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Components + Hooks con MSW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mínima: 80%  |  pytest --cov=app  |  npm run coverage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27 prompts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utilizados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del scaffolding al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621792" y="7498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Build/Setup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94560" y="74980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2450592" y="7498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23360" y="74980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4279392" y="7498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Fix/Hotfix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" y="1051560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256032" y="111556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B5080"/>
          </a:solidFill>
          <a:ln w="12700">
            <a:solidFill>
              <a:srgbClr val="3B50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256032" y="11155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777240" y="11155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56032" y="135331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" y="1801368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completa, dominio, severidad, estados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188720" y="1051560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1243584" y="111556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B5080"/>
          </a:solidFill>
          <a:ln w="12700">
            <a:solidFill>
              <a:srgbClr val="3B50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1243584" y="11155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764792" y="11155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243584" y="135331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Setup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43584" y="1801368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testing + 42 tests de severity calculator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76272" y="1051560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3" name="Shape 21"/>
          <p:cNvSpPr/>
          <p:nvPr/>
        </p:nvSpPr>
        <p:spPr>
          <a:xfrm>
            <a:off x="2231136" y="111556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B5080"/>
          </a:solidFill>
          <a:ln w="12700">
            <a:solidFill>
              <a:srgbClr val="3B50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2231136" y="11155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2752344" y="11155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#03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231136" y="135331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module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31136" y="1801368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Google OAuth + flujo aprobación (86 tests)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163824" y="1051560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9" name="Shape 27"/>
          <p:cNvSpPr/>
          <p:nvPr/>
        </p:nvSpPr>
        <p:spPr>
          <a:xfrm>
            <a:off x="3218688" y="111556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B5080"/>
          </a:solidFill>
          <a:ln w="12700">
            <a:solidFill>
              <a:srgbClr val="3B50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3218688" y="11155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3739896" y="11155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#04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18688" y="135331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module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18688" y="1801368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proyectos con ownership (127 tests)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151376" y="1051560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5" name="Shape 33"/>
          <p:cNvSpPr/>
          <p:nvPr/>
        </p:nvSpPr>
        <p:spPr>
          <a:xfrm>
            <a:off x="4206240" y="111556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B5080"/>
          </a:solidFill>
          <a:ln w="12700">
            <a:solidFill>
              <a:srgbClr val="3B50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4206240" y="11155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4727448" y="11155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#05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206240" y="135331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module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06240" y="1801368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con severidad automática y máquina de estados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138928" y="1051560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1" name="Shape 39"/>
          <p:cNvSpPr/>
          <p:nvPr/>
        </p:nvSpPr>
        <p:spPr>
          <a:xfrm>
            <a:off x="5193792" y="111556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B5080"/>
          </a:solidFill>
          <a:ln w="12700">
            <a:solidFill>
              <a:srgbClr val="3B50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2" name="Text 40"/>
          <p:cNvSpPr/>
          <p:nvPr/>
        </p:nvSpPr>
        <p:spPr>
          <a:xfrm>
            <a:off x="5193792" y="11155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5715000" y="11155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#06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193792" y="135331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module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93792" y="1801368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+ derivación desde riesgo, FK circular diferida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26480" y="1051560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7" name="Shape 45"/>
          <p:cNvSpPr/>
          <p:nvPr/>
        </p:nvSpPr>
        <p:spPr>
          <a:xfrm>
            <a:off x="6181344" y="111556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B5080"/>
          </a:solidFill>
          <a:ln w="12700">
            <a:solidFill>
              <a:srgbClr val="3B50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8" name="Text 46"/>
          <p:cNvSpPr/>
          <p:nvPr/>
        </p:nvSpPr>
        <p:spPr>
          <a:xfrm>
            <a:off x="6181344" y="11155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6702552" y="11155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#07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181344" y="135331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Audit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81344" y="1801368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append-only + log de auditoría completo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114032" y="1051560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8B1A1A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3" name="Shape 51"/>
          <p:cNvSpPr/>
          <p:nvPr/>
        </p:nvSpPr>
        <p:spPr>
          <a:xfrm>
            <a:off x="7168896" y="111556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4" name="Text 52"/>
          <p:cNvSpPr/>
          <p:nvPr/>
        </p:nvSpPr>
        <p:spPr>
          <a:xfrm>
            <a:off x="7168896" y="11155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7690104" y="11155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#08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168896" y="135331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audit &amp; fixes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168896" y="1801368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bugs corregidos, 342 tests pasando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8101584" y="1051560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9" name="Shape 57"/>
          <p:cNvSpPr/>
          <p:nvPr/>
        </p:nvSpPr>
        <p:spPr>
          <a:xfrm>
            <a:off x="8156448" y="111556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B5080"/>
          </a:solidFill>
          <a:ln w="12700">
            <a:solidFill>
              <a:srgbClr val="3B50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0" name="Text 58"/>
          <p:cNvSpPr/>
          <p:nvPr/>
        </p:nvSpPr>
        <p:spPr>
          <a:xfrm>
            <a:off x="8156448" y="11155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8677656" y="11155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#09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156448" y="135331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React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156448" y="1801368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completa: auth, proyectos, riesgos, issues, historial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01168" y="2359152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5" name="Shape 63"/>
          <p:cNvSpPr/>
          <p:nvPr/>
        </p:nvSpPr>
        <p:spPr>
          <a:xfrm>
            <a:off x="256032" y="242316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B5080"/>
          </a:solidFill>
          <a:ln w="12700">
            <a:solidFill>
              <a:srgbClr val="3B50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6" name="Text 64"/>
          <p:cNvSpPr/>
          <p:nvPr/>
        </p:nvSpPr>
        <p:spPr>
          <a:xfrm>
            <a:off x="256032" y="2423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777240" y="24231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256032" y="266090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56032" y="3108960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fixes, UUID, setuptools, .env.example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1188720" y="2359152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8B1A1A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1" name="Shape 69"/>
          <p:cNvSpPr/>
          <p:nvPr/>
        </p:nvSpPr>
        <p:spPr>
          <a:xfrm>
            <a:off x="1243584" y="242316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2" name="Text 70"/>
          <p:cNvSpPr/>
          <p:nvPr/>
        </p:nvSpPr>
        <p:spPr>
          <a:xfrm>
            <a:off x="1243584" y="2423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1764792" y="24231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1243584" y="266090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post-deploy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243584" y="3108960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PATCH/PUT, admin panel, mensajes en español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2176272" y="2359152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E8630A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7" name="Shape 75"/>
          <p:cNvSpPr/>
          <p:nvPr/>
        </p:nvSpPr>
        <p:spPr>
          <a:xfrm>
            <a:off x="2231136" y="242316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F07B2A"/>
          </a:solidFill>
          <a:ln w="12700">
            <a:solidFill>
              <a:srgbClr val="F07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8" name="Text 76"/>
          <p:cNvSpPr/>
          <p:nvPr/>
        </p:nvSpPr>
        <p:spPr>
          <a:xfrm>
            <a:off x="2231136" y="2423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2752344" y="24231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2231136" y="266090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improvements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2231136" y="3108960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en tiempo real, editar usuarios, unsaved changes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163824" y="2359152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8B1A1A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3" name="Shape 81"/>
          <p:cNvSpPr/>
          <p:nvPr/>
        </p:nvSpPr>
        <p:spPr>
          <a:xfrm>
            <a:off x="3218688" y="242316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4" name="Text 82"/>
          <p:cNvSpPr/>
          <p:nvPr/>
        </p:nvSpPr>
        <p:spPr>
          <a:xfrm>
            <a:off x="3218688" y="2423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3739896" y="24231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#13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3218688" y="266090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useBlocker crash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3218688" y="3108960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en blanco por useBlocker incompatible con BrowserRouter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151376" y="2359152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8B1A1A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9" name="Shape 87"/>
          <p:cNvSpPr/>
          <p:nvPr/>
        </p:nvSpPr>
        <p:spPr>
          <a:xfrm>
            <a:off x="4206240" y="242316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0" name="Text 88"/>
          <p:cNvSpPr/>
          <p:nvPr/>
        </p:nvSpPr>
        <p:spPr>
          <a:xfrm>
            <a:off x="4206240" y="2423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4727448" y="24231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4206240" y="266090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+ derived lock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4206240" y="3108960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visibles, riesgo derivado solo lectura, tabs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5138928" y="2359152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5" name="Shape 93"/>
          <p:cNvSpPr/>
          <p:nvPr/>
        </p:nvSpPr>
        <p:spPr>
          <a:xfrm>
            <a:off x="5193792" y="242316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B5080"/>
          </a:solidFill>
          <a:ln w="12700">
            <a:solidFill>
              <a:srgbClr val="3B50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6" name="Text 94"/>
          <p:cNvSpPr/>
          <p:nvPr/>
        </p:nvSpPr>
        <p:spPr>
          <a:xfrm>
            <a:off x="5193792" y="2423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5715000" y="24231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5193792" y="266090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5193792" y="3108960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completo: setup, API reference, arquitectura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6126480" y="2359152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8B1A1A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1" name="Shape 99"/>
          <p:cNvSpPr/>
          <p:nvPr/>
        </p:nvSpPr>
        <p:spPr>
          <a:xfrm>
            <a:off x="6181344" y="242316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2" name="Text 100"/>
          <p:cNvSpPr/>
          <p:nvPr/>
        </p:nvSpPr>
        <p:spPr>
          <a:xfrm>
            <a:off x="6181344" y="2423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650" dirty="0"/>
          </a:p>
        </p:txBody>
      </p:sp>
      <p:sp>
        <p:nvSpPr>
          <p:cNvPr id="103" name="Text 101"/>
          <p:cNvSpPr/>
          <p:nvPr/>
        </p:nvSpPr>
        <p:spPr>
          <a:xfrm>
            <a:off x="6702552" y="24231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6181344" y="266090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validation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6181344" y="3108960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 [object Object] en lugar del mensaje de error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7114032" y="2359152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E8630A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7" name="Shape 105"/>
          <p:cNvSpPr/>
          <p:nvPr/>
        </p:nvSpPr>
        <p:spPr>
          <a:xfrm>
            <a:off x="7168896" y="242316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F07B2A"/>
          </a:solidFill>
          <a:ln w="12700">
            <a:solidFill>
              <a:srgbClr val="F07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8" name="Text 106"/>
          <p:cNvSpPr/>
          <p:nvPr/>
        </p:nvSpPr>
        <p:spPr>
          <a:xfrm>
            <a:off x="7168896" y="2423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7690104" y="24231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#17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7168896" y="266090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7168896" y="3108960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Perfil: cambio de contraseña + tema claro/oscuro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8101584" y="2359152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8B1A1A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3" name="Shape 111"/>
          <p:cNvSpPr/>
          <p:nvPr/>
        </p:nvSpPr>
        <p:spPr>
          <a:xfrm>
            <a:off x="8156448" y="242316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4" name="Text 112"/>
          <p:cNvSpPr/>
          <p:nvPr/>
        </p:nvSpPr>
        <p:spPr>
          <a:xfrm>
            <a:off x="8156448" y="2423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650" dirty="0"/>
          </a:p>
        </p:txBody>
      </p:sp>
      <p:sp>
        <p:nvSpPr>
          <p:cNvPr id="115" name="Text 113"/>
          <p:cNvSpPr/>
          <p:nvPr/>
        </p:nvSpPr>
        <p:spPr>
          <a:xfrm>
            <a:off x="8677656" y="24231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#18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8156448" y="266090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plan guard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8156448" y="3108960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save plan + modal 3 opciones al navegar con cambios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201168" y="3666744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E8630A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9" name="Shape 117"/>
          <p:cNvSpPr/>
          <p:nvPr/>
        </p:nvSpPr>
        <p:spPr>
          <a:xfrm>
            <a:off x="256032" y="3730752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F07B2A"/>
          </a:solidFill>
          <a:ln w="12700">
            <a:solidFill>
              <a:srgbClr val="F07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0" name="Text 118"/>
          <p:cNvSpPr/>
          <p:nvPr/>
        </p:nvSpPr>
        <p:spPr>
          <a:xfrm>
            <a:off x="256032" y="37307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777240" y="37307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#19</a:t>
            </a:r>
            <a:endParaRPr lang="en-US" sz="750" dirty="0"/>
          </a:p>
        </p:txBody>
      </p:sp>
      <p:sp>
        <p:nvSpPr>
          <p:cNvPr id="122" name="Text 120"/>
          <p:cNvSpPr/>
          <p:nvPr/>
        </p:nvSpPr>
        <p:spPr>
          <a:xfrm>
            <a:off x="256032" y="396849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+ activity log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256032" y="4416552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en riesgos/issues + activity log campo a campo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1188720" y="3666744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E8630A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5" name="Shape 123"/>
          <p:cNvSpPr/>
          <p:nvPr/>
        </p:nvSpPr>
        <p:spPr>
          <a:xfrm>
            <a:off x="1243584" y="3730752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F07B2A"/>
          </a:solidFill>
          <a:ln w="12700">
            <a:solidFill>
              <a:srgbClr val="F07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6" name="Text 124"/>
          <p:cNvSpPr/>
          <p:nvPr/>
        </p:nvSpPr>
        <p:spPr>
          <a:xfrm>
            <a:off x="1243584" y="37307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1764792" y="37307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#20</a:t>
            </a:r>
            <a:endParaRPr lang="en-US" sz="750" dirty="0"/>
          </a:p>
        </p:txBody>
      </p:sp>
      <p:sp>
        <p:nvSpPr>
          <p:cNvPr id="128" name="Text 126"/>
          <p:cNvSpPr/>
          <p:nvPr/>
        </p:nvSpPr>
        <p:spPr>
          <a:xfrm>
            <a:off x="1243584" y="396849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1243584" y="4416552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 lógico + Papelera en AdminPage para restaurar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2176272" y="3666744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8B1A1A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1" name="Shape 129"/>
          <p:cNvSpPr/>
          <p:nvPr/>
        </p:nvSpPr>
        <p:spPr>
          <a:xfrm>
            <a:off x="2231136" y="3730752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2" name="Text 130"/>
          <p:cNvSpPr/>
          <p:nvPr/>
        </p:nvSpPr>
        <p:spPr>
          <a:xfrm>
            <a:off x="2231136" y="37307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650" dirty="0"/>
          </a:p>
        </p:txBody>
      </p:sp>
      <p:sp>
        <p:nvSpPr>
          <p:cNvPr id="133" name="Text 131"/>
          <p:cNvSpPr/>
          <p:nvPr/>
        </p:nvSpPr>
        <p:spPr>
          <a:xfrm>
            <a:off x="2752344" y="37307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#21</a:t>
            </a:r>
            <a:endParaRPr lang="en-US" sz="750" dirty="0"/>
          </a:p>
        </p:txBody>
      </p:sp>
      <p:sp>
        <p:nvSpPr>
          <p:cNvPr id="134" name="Text 132"/>
          <p:cNvSpPr/>
          <p:nvPr/>
        </p:nvSpPr>
        <p:spPr>
          <a:xfrm>
            <a:off x="2231136" y="396849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+ OAuth UI</a:t>
            </a:r>
            <a:endParaRPr lang="en-US" sz="900" dirty="0"/>
          </a:p>
        </p:txBody>
      </p:sp>
      <p:sp>
        <p:nvSpPr>
          <p:cNvPr id="135" name="Text 133"/>
          <p:cNvSpPr/>
          <p:nvPr/>
        </p:nvSpPr>
        <p:spPr>
          <a:xfrm>
            <a:off x="2231136" y="4416552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 en Tailwind + botón Google OAuth frontend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3163824" y="3666744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E8630A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7" name="Shape 135"/>
          <p:cNvSpPr/>
          <p:nvPr/>
        </p:nvSpPr>
        <p:spPr>
          <a:xfrm>
            <a:off x="3218688" y="3730752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F07B2A"/>
          </a:solidFill>
          <a:ln w="12700">
            <a:solidFill>
              <a:srgbClr val="F07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8" name="Text 136"/>
          <p:cNvSpPr/>
          <p:nvPr/>
        </p:nvSpPr>
        <p:spPr>
          <a:xfrm>
            <a:off x="3218688" y="37307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</a:t>
            </a:r>
            <a:endParaRPr lang="en-US" sz="650" dirty="0"/>
          </a:p>
        </p:txBody>
      </p:sp>
      <p:sp>
        <p:nvSpPr>
          <p:cNvPr id="139" name="Text 137"/>
          <p:cNvSpPr/>
          <p:nvPr/>
        </p:nvSpPr>
        <p:spPr>
          <a:xfrm>
            <a:off x="3739896" y="37307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#22</a:t>
            </a:r>
            <a:endParaRPr lang="en-US" sz="750" dirty="0"/>
          </a:p>
        </p:txBody>
      </p:sp>
      <p:sp>
        <p:nvSpPr>
          <p:cNvPr id="140" name="Text 138"/>
          <p:cNvSpPr/>
          <p:nvPr/>
        </p:nvSpPr>
        <p:spPr>
          <a:xfrm>
            <a:off x="3218688" y="396849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backend</a:t>
            </a:r>
            <a:endParaRPr lang="en-US" sz="900" dirty="0"/>
          </a:p>
        </p:txBody>
      </p:sp>
      <p:sp>
        <p:nvSpPr>
          <p:cNvPr id="141" name="Text 139"/>
          <p:cNvSpPr/>
          <p:nvPr/>
        </p:nvSpPr>
        <p:spPr>
          <a:xfrm>
            <a:off x="3218688" y="4416552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/auth/google + UX pantalla acceso bloqueado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4151376" y="3666744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E8630A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3" name="Shape 141"/>
          <p:cNvSpPr/>
          <p:nvPr/>
        </p:nvSpPr>
        <p:spPr>
          <a:xfrm>
            <a:off x="4206240" y="3730752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F07B2A"/>
          </a:solidFill>
          <a:ln w="12700">
            <a:solidFill>
              <a:srgbClr val="F07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4" name="Text 142"/>
          <p:cNvSpPr/>
          <p:nvPr/>
        </p:nvSpPr>
        <p:spPr>
          <a:xfrm>
            <a:off x="4206240" y="37307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4727448" y="37307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#23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4206240" y="396849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login page</a:t>
            </a:r>
            <a:endParaRPr lang="en-US" sz="900" dirty="0"/>
          </a:p>
        </p:txBody>
      </p:sp>
      <p:sp>
        <p:nvSpPr>
          <p:cNvPr id="147" name="Text 145"/>
          <p:cNvSpPr/>
          <p:nvPr/>
        </p:nvSpPr>
        <p:spPr>
          <a:xfrm>
            <a:off x="4206240" y="4416552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propuestas visuales vía superpowers, spec + sub-agentes</a:t>
            </a:r>
            <a:endParaRPr lang="en-US" sz="750" dirty="0"/>
          </a:p>
        </p:txBody>
      </p:sp>
      <p:sp>
        <p:nvSpPr>
          <p:cNvPr id="148" name="Shape 146"/>
          <p:cNvSpPr/>
          <p:nvPr/>
        </p:nvSpPr>
        <p:spPr>
          <a:xfrm>
            <a:off x="5138928" y="3666744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2E4080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9" name="Shape 147"/>
          <p:cNvSpPr/>
          <p:nvPr/>
        </p:nvSpPr>
        <p:spPr>
          <a:xfrm>
            <a:off x="5193792" y="3730752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B5080"/>
          </a:solidFill>
          <a:ln w="12700">
            <a:solidFill>
              <a:srgbClr val="3B50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0" name="Text 148"/>
          <p:cNvSpPr/>
          <p:nvPr/>
        </p:nvSpPr>
        <p:spPr>
          <a:xfrm>
            <a:off x="5193792" y="37307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650" dirty="0"/>
          </a:p>
        </p:txBody>
      </p:sp>
      <p:sp>
        <p:nvSpPr>
          <p:cNvPr id="151" name="Text 149"/>
          <p:cNvSpPr/>
          <p:nvPr/>
        </p:nvSpPr>
        <p:spPr>
          <a:xfrm>
            <a:off x="5715000" y="37307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#24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5193792" y="396849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900" dirty="0"/>
          </a:p>
        </p:txBody>
      </p:sp>
      <p:sp>
        <p:nvSpPr>
          <p:cNvPr id="153" name="Text 151"/>
          <p:cNvSpPr/>
          <p:nvPr/>
        </p:nvSpPr>
        <p:spPr>
          <a:xfrm>
            <a:off x="5193792" y="4416552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.mcp.json versionado, browser automation para todo el equipo</a:t>
            </a:r>
            <a:endParaRPr lang="en-US" sz="750" dirty="0"/>
          </a:p>
        </p:txBody>
      </p:sp>
      <p:sp>
        <p:nvSpPr>
          <p:cNvPr id="154" name="Shape 152"/>
          <p:cNvSpPr/>
          <p:nvPr/>
        </p:nvSpPr>
        <p:spPr>
          <a:xfrm>
            <a:off x="6126480" y="3666744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8B1A1A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5" name="Shape 153"/>
          <p:cNvSpPr/>
          <p:nvPr/>
        </p:nvSpPr>
        <p:spPr>
          <a:xfrm>
            <a:off x="6181344" y="3730752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6" name="Text 154"/>
          <p:cNvSpPr/>
          <p:nvPr/>
        </p:nvSpPr>
        <p:spPr>
          <a:xfrm>
            <a:off x="6181344" y="37307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650" dirty="0"/>
          </a:p>
        </p:txBody>
      </p:sp>
      <p:sp>
        <p:nvSpPr>
          <p:cNvPr id="157" name="Text 155"/>
          <p:cNvSpPr/>
          <p:nvPr/>
        </p:nvSpPr>
        <p:spPr>
          <a:xfrm>
            <a:off x="6702552" y="37307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#25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6181344" y="396849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sweep</a:t>
            </a:r>
            <a:endParaRPr lang="en-US" sz="900" dirty="0"/>
          </a:p>
        </p:txBody>
      </p:sp>
      <p:sp>
        <p:nvSpPr>
          <p:cNvPr id="159" name="Text 157"/>
          <p:cNvSpPr/>
          <p:nvPr/>
        </p:nvSpPr>
        <p:spPr>
          <a:xfrm>
            <a:off x="6181344" y="4416552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bugs con TDD: severidad, auth, derive, paginación (39 tests)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7114032" y="3666744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8B1A1A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1" name="Shape 159"/>
          <p:cNvSpPr/>
          <p:nvPr/>
        </p:nvSpPr>
        <p:spPr>
          <a:xfrm>
            <a:off x="7168896" y="3730752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2" name="Text 160"/>
          <p:cNvSpPr/>
          <p:nvPr/>
        </p:nvSpPr>
        <p:spPr>
          <a:xfrm>
            <a:off x="7168896" y="37307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650" dirty="0"/>
          </a:p>
        </p:txBody>
      </p:sp>
      <p:sp>
        <p:nvSpPr>
          <p:cNvPr id="163" name="Text 161"/>
          <p:cNvSpPr/>
          <p:nvPr/>
        </p:nvSpPr>
        <p:spPr>
          <a:xfrm>
            <a:off x="7690104" y="37307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#26</a:t>
            </a:r>
            <a:endParaRPr lang="en-US" sz="750" dirty="0"/>
          </a:p>
        </p:txBody>
      </p:sp>
      <p:sp>
        <p:nvSpPr>
          <p:cNvPr id="164" name="Text 162"/>
          <p:cNvSpPr/>
          <p:nvPr/>
        </p:nvSpPr>
        <p:spPr>
          <a:xfrm>
            <a:off x="7168896" y="396849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feedback</a:t>
            </a:r>
            <a:endParaRPr lang="en-US" sz="900" dirty="0"/>
          </a:p>
        </p:txBody>
      </p:sp>
      <p:sp>
        <p:nvSpPr>
          <p:cNvPr id="165" name="Text 163"/>
          <p:cNvSpPr/>
          <p:nvPr/>
        </p:nvSpPr>
        <p:spPr>
          <a:xfrm>
            <a:off x="7168896" y="4416552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+ acciones deshabilitadas para usuarios sin permiso</a:t>
            </a:r>
            <a:endParaRPr lang="en-US" sz="750" dirty="0"/>
          </a:p>
        </p:txBody>
      </p:sp>
      <p:sp>
        <p:nvSpPr>
          <p:cNvPr id="166" name="Shape 164"/>
          <p:cNvSpPr/>
          <p:nvPr/>
        </p:nvSpPr>
        <p:spPr>
          <a:xfrm>
            <a:off x="8101584" y="3666744"/>
            <a:ext cx="950976" cy="1234440"/>
          </a:xfrm>
          <a:prstGeom prst="roundRect">
            <a:avLst>
              <a:gd name="adj" fmla="val 6731"/>
            </a:avLst>
          </a:prstGeom>
          <a:solidFill>
            <a:srgbClr val="E8630A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7" name="Shape 165"/>
          <p:cNvSpPr/>
          <p:nvPr/>
        </p:nvSpPr>
        <p:spPr>
          <a:xfrm>
            <a:off x="8156448" y="3730752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F07B2A"/>
          </a:solidFill>
          <a:ln w="12700">
            <a:solidFill>
              <a:srgbClr val="F07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8" name="Text 166"/>
          <p:cNvSpPr/>
          <p:nvPr/>
        </p:nvSpPr>
        <p:spPr>
          <a:xfrm>
            <a:off x="8156448" y="37307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</a:t>
            </a:r>
            <a:endParaRPr lang="en-US" sz="650" dirty="0"/>
          </a:p>
        </p:txBody>
      </p:sp>
      <p:sp>
        <p:nvSpPr>
          <p:cNvPr id="169" name="Text 167"/>
          <p:cNvSpPr/>
          <p:nvPr/>
        </p:nvSpPr>
        <p:spPr>
          <a:xfrm>
            <a:off x="8677656" y="37307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#27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8156448" y="396849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stats</a:t>
            </a:r>
            <a:endParaRPr lang="en-US" sz="900" dirty="0"/>
          </a:p>
        </p:txBody>
      </p:sp>
      <p:sp>
        <p:nvSpPr>
          <p:cNvPr id="171" name="Text 169"/>
          <p:cNvSpPr/>
          <p:nvPr/>
        </p:nvSpPr>
        <p:spPr>
          <a:xfrm>
            <a:off x="8156448" y="4416552"/>
            <a:ext cx="841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3×3 severidad × zona + bar charts por estado</a:t>
            </a:r>
            <a:endParaRPr lang="en-US" sz="750" dirty="0"/>
          </a:p>
        </p:txBody>
      </p:sp>
      <p:sp>
        <p:nvSpPr>
          <p:cNvPr id="172" name="Text 17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prompt = 1 sesión de trabajo completa con Claude Code · TDD en cada paso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Prompts que construyeron el sistema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51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384048" y="886968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384048" y="8869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97280" y="8869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#01  Scaffolding inicial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197864"/>
            <a:ext cx="4032504" cy="1005840"/>
          </a:xfrm>
          <a:prstGeom prst="roundRect">
            <a:avLst>
              <a:gd name="adj" fmla="val 5455"/>
            </a:avLst>
          </a:prstGeom>
          <a:solidFill>
            <a:srgbClr val="EEF1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Creá el scaffolding inicial para una app web de gestión de riesgos e issues por proyecto/cliente.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FastAPI · React 18 · PostgreSQL · Docker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User, Project, Risk, Issue, HistoryEntry, AuditLog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Creá también los archivos .claude/ con settings, skills, rules y commands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2267712"/>
            <a:ext cx="4032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Estructura completa + .claude/ + init.sql + docker-compose.yml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251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4864608" y="886968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4864608" y="8869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577840" y="8869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#05  Módulo de riesgos (TDD)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64608" y="1197864"/>
            <a:ext cx="4032504" cy="1005840"/>
          </a:xfrm>
          <a:prstGeom prst="roundRect">
            <a:avLst>
              <a:gd name="adj" fmla="val 5455"/>
            </a:avLst>
          </a:prstGeom>
          <a:solidFill>
            <a:srgbClr val="EEF1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4937760" y="123444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Implementá el módulo de riesgos siguiendo TDD: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probability, impact, proximity → severity calculada automáticamente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estados: open → in_progress → closed / derived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PATCH /risks/{id}/status con validación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escribí los tests, luego la implementación mínima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64608" y="2267712"/>
            <a:ext cx="4032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risk_service.py + severidad automática + 127 tests pasando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4251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384048" y="2990088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384048" y="299008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97280" y="29900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#13  Hotfix — pantalla en blanco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4048" y="3300984"/>
            <a:ext cx="4032504" cy="1005840"/>
          </a:xfrm>
          <a:prstGeom prst="roundRect">
            <a:avLst>
              <a:gd name="adj" fmla="val 5455"/>
            </a:avLst>
          </a:prstGeom>
          <a:solidFill>
            <a:srgbClr val="EEF1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457200" y="333756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cuando selecciono un riesgo se ve la pagina en BLANCO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SI HAY UN BUG Y CORREGILO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 ASI CREA UN BRANCH HOTFIX2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4370832"/>
            <a:ext cx="4032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Diagnóstico: useBlocker incompatible con BrowserRouter → reemplazo por listener DOM nativo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880360"/>
            <a:ext cx="4251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6" name="Shape 24"/>
          <p:cNvSpPr/>
          <p:nvPr/>
        </p:nvSpPr>
        <p:spPr>
          <a:xfrm>
            <a:off x="4864608" y="2990088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4864608" y="299008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577840" y="29900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#20  Soft Delete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64608" y="3300984"/>
            <a:ext cx="4032504" cy="1005840"/>
          </a:xfrm>
          <a:prstGeom prst="roundRect">
            <a:avLst>
              <a:gd name="adj" fmla="val 5455"/>
            </a:avLst>
          </a:prstGeom>
          <a:solidFill>
            <a:srgbClr val="EEF1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4937760" y="333756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r>
              <a:rPr lang="es-E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borrados de los riesgos o problemas </a:t>
            </a:r>
            <a:r>
              <a:rPr lang="es-ES" sz="8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seran</a:t>
            </a:r>
            <a:r>
              <a:rPr lang="es-E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borrados lógicos. El usuario </a:t>
            </a:r>
          </a:p>
          <a:p>
            <a:pPr marL="0" indent="0">
              <a:buNone/>
            </a:pPr>
            <a:r>
              <a:rPr lang="es-E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tendrá la funcionalidad de volver activar un riesgo o </a:t>
            </a:r>
            <a:r>
              <a:rPr lang="es-ES" sz="8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isue</a:t>
            </a:r>
            <a:r>
              <a:rPr lang="es-E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dado de baja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64608" y="4251960"/>
            <a:ext cx="4032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b="1" dirty="0" err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950" b="1" dirty="0" err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</a:t>
            </a:r>
            <a:r>
              <a:rPr lang="en-US" sz="950" b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</a:t>
            </a: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950" b="1" dirty="0" err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</a:t>
            </a: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logico</a:t>
            </a: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las </a:t>
            </a:r>
            <a:r>
              <a:rPr lang="en-US" sz="950" b="1" dirty="0" err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</a:t>
            </a: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950" b="1" dirty="0" err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detalles</a:t>
            </a: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excluyen</a:t>
            </a: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borrados</a:t>
            </a: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logicamente</a:t>
            </a: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audit-log </a:t>
            </a:r>
            <a:r>
              <a:rPr lang="en-US" sz="950" b="1" dirty="0" err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</a:t>
            </a: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</a:t>
            </a: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‘delete’, ‘restore’ -&gt; admin page </a:t>
            </a:r>
            <a:r>
              <a:rPr lang="en-US" sz="950" b="1" dirty="0" err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</a:t>
            </a: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papelera visible solo a admins, y </a:t>
            </a:r>
            <a:r>
              <a:rPr lang="en-US" sz="950" b="1" dirty="0" err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</a:t>
            </a: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restaurar</a:t>
            </a: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ser </a:t>
            </a:r>
            <a:r>
              <a:rPr lang="en-US" sz="950" b="1" dirty="0" err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necesario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de los 27 prompts son de 1 sola línea o frase coloquial — Claude interpretó el contexto gracias a CLAUDE.md + rules + skills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— QA visual end-to-end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8686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86868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usa Playwright como MCP tool para ver la app en tiempo real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verificar que el UI funciona antes de dar la tarea por terminada.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645920"/>
            <a:ext cx="4846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50292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Claude con Playwright: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1762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Abre el navegador con la app corriendo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26151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Navega a la pantalla que modificó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305409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Lee el accessibility tree para verificar elementos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34930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Hace click, completa formularios, verifica resultados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02920" y="3931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Corrobora que la severidad calculada sea correcta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43708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Detecta errores antes de que el humano lo vea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394960" y="164592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A2744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Text 12"/>
          <p:cNvSpPr/>
          <p:nvPr/>
        </p:nvSpPr>
        <p:spPr>
          <a:xfrm>
            <a:off x="553212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preview-check.yml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532120" y="2176272"/>
            <a:ext cx="3246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del accessibility tree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Claude lee para entender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hay en pantalla.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Contiene: botones, textos,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comboboxes, headings, links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todos los refs de la UI.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Claude generó — Todo el proyecto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2E4080"/>
          </a:solidFill>
          <a:ln/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código backend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(FastAPI + SQLAlchemy)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9144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2E4080"/>
          </a:solidFill>
          <a:ln/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2606040" y="1005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651760" y="17830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código frontend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+ Vite)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2E4080"/>
          </a:solidFill>
          <a:ln/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754880" y="1005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800600" y="17830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migraciones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(Alembic)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9144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2E4080"/>
          </a:solidFill>
          <a:ln/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6903720" y="1005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949440" y="17830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tests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(unit + integration)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generados por Claude: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API FastAPI con autenticación JWT + Google OAuth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685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SPA React con paginación, filtros y formularios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0325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PostgreSQL: DDL completo, índices, seeds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3799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Docker Compose + Dockerfiles (backend + frontend)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727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Slash commands, rules, skills y CLAUDE.md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7315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486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365760" y="137160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2E4080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502920" y="14264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Claude como copiloto real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91840" y="1426464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genera código: entiende el dominio, aplica las reglas y verifica el resultado.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0756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2E4080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502920" y="21305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La estructura importa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91840" y="213055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+ Rules + Skills = contexto rico. Con buen contexto, Claude produce código de producción.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277977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2E4080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Text 10"/>
          <p:cNvSpPr/>
          <p:nvPr/>
        </p:nvSpPr>
        <p:spPr>
          <a:xfrm>
            <a:off x="502920" y="28346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Commands = productividad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91840" y="283464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/calc-severity o /audit-layers ahorra horas de debugging y asegura consistencia.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348386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2E4080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Text 13"/>
          <p:cNvSpPr/>
          <p:nvPr/>
        </p:nvSpPr>
        <p:spPr>
          <a:xfrm>
            <a:off x="502920" y="35387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Playwright cierra el loop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291840" y="353872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puede ver la UI, verificar el comportamiento y corregir sin intervención humana.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418795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2E4080"/>
          </a:solidFill>
          <a:ln/>
          <a:effectLst>
            <a:outerShdw blurRad="635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Text 16"/>
          <p:cNvSpPr/>
          <p:nvPr/>
        </p:nvSpPr>
        <p:spPr>
          <a:xfrm>
            <a:off x="502920" y="42428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El sistema funciona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91840" y="4242816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 con severidad calculada, historial, auditoría y derivación a issues.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RiskIssueTracker — 100% construido con Claude AI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7CDC74-99BB-EF34-31D6-3F0DAC554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BC67C2-CA37-9929-7AD4-AB5D4AB7E539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0F67EF0-F6F9-57ED-6A00-1518789BC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623053"/>
            <a:ext cx="1828800" cy="18288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92EC610-8AE5-7165-6F3B-F08FCD6F01BB}"/>
              </a:ext>
            </a:extLst>
          </p:cNvPr>
          <p:cNvSpPr/>
          <p:nvPr/>
        </p:nvSpPr>
        <p:spPr>
          <a:xfrm>
            <a:off x="1122830" y="1859039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¡Muchas gracias!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60D28F3-8564-13BA-A046-45DB85ECE477}"/>
              </a:ext>
            </a:extLst>
          </p:cNvPr>
          <p:cNvSpPr/>
          <p:nvPr/>
        </p:nvSpPr>
        <p:spPr>
          <a:xfrm>
            <a:off x="457200" y="2994653"/>
            <a:ext cx="8229600" cy="0"/>
          </a:xfrm>
          <a:prstGeom prst="line">
            <a:avLst/>
          </a:prstGeom>
          <a:noFill/>
          <a:ln w="12700">
            <a:solidFill>
              <a:srgbClr val="2E40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72F66D5-0132-4583-832B-24FD0A8E6499}"/>
              </a:ext>
            </a:extLst>
          </p:cNvPr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1163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2992</Words>
  <Application>Microsoft Office PowerPoint</Application>
  <PresentationFormat>Presentación en pantalla (16:9)</PresentationFormat>
  <Paragraphs>502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RiskIssueTracker — Desarrollado con Claude</dc:title>
  <dc:subject>PptxGenJS Presentation</dc:subject>
  <dc:creator>PptxGenJS</dc:creator>
  <cp:lastModifiedBy>Gustavo Rivas</cp:lastModifiedBy>
  <cp:revision>13</cp:revision>
  <dcterms:created xsi:type="dcterms:W3CDTF">2026-06-14T20:13:32Z</dcterms:created>
  <dcterms:modified xsi:type="dcterms:W3CDTF">2026-06-15T00:44:28Z</dcterms:modified>
</cp:coreProperties>
</file>